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PRIVATE INVESTOR BRIEF  · 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58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800" b="1" i="0">
                <a:solidFill>
                  <a:srgbClr val="FFFFFF"/>
                </a:solidFill>
                <a:latin typeface="Helvetica Neue"/>
              </a:rPr>
              <a:t>GUBER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2200" b="1">
                <a:solidFill>
                  <a:srgbClr val="39FF14"/>
                </a:solidFill>
                <a:latin typeface="Helvetica Neue"/>
              </a:rPr>
              <a:t>Find Work.</a:t>
            </a:r>
            <a:r>
              <a:rPr sz="2200" b="1">
                <a:solidFill>
                  <a:srgbClr val="D100FF"/>
                </a:solidFill>
                <a:latin typeface="Helvetica Neue"/>
              </a:rPr>
              <a:t>  Hire Help.</a:t>
            </a:r>
            <a:r>
              <a:rPr sz="2200" b="1">
                <a:solidFill>
                  <a:srgbClr val="00E5FF"/>
                </a:solidFill>
                <a:latin typeface="Helvetica Neue"/>
              </a:rPr>
              <a:t>  Verify Things.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01568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</a:rPr>
              <a:t>Create Value In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999AA"/>
                </a:solidFill>
                <a:latin typeface="Helvetica Neue"/>
              </a:rPr>
              <a:t>A trust-enforced platform connecting people who need work, help, or verification with verified locals who can deliver it. Live on web and Google Play.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5029200"/>
            <a:ext cx="1965960" cy="329184"/>
          </a:xfrm>
          <a:prstGeom prst="ellipse">
            <a:avLst/>
          </a:prstGeom>
          <a:solidFill>
            <a:srgbClr val="141422"/>
          </a:solidFill>
          <a:ln w="127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04748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39FF14"/>
                </a:solidFill>
                <a:latin typeface="Helvetica Neue"/>
              </a:rPr>
              <a:t>● Live on Android</a:t>
            </a:r>
          </a:p>
        </p:txBody>
      </p:sp>
      <p:sp>
        <p:nvSpPr>
          <p:cNvPr id="9" name="Oval 8"/>
          <p:cNvSpPr/>
          <p:nvPr/>
        </p:nvSpPr>
        <p:spPr>
          <a:xfrm>
            <a:off x="2697480" y="5029200"/>
            <a:ext cx="1965960" cy="329184"/>
          </a:xfrm>
          <a:prstGeom prst="ellipse">
            <a:avLst/>
          </a:prstGeom>
          <a:solidFill>
            <a:srgbClr val="141422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04748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00E5FF"/>
                </a:solidFill>
                <a:latin typeface="Helvetica Neue"/>
              </a:rPr>
              <a:t>● Web App Live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0" y="5029200"/>
            <a:ext cx="1965960" cy="329184"/>
          </a:xfrm>
          <a:prstGeom prst="ellipse">
            <a:avLst/>
          </a:prstGeom>
          <a:solidFill>
            <a:srgbClr val="141422"/>
          </a:solidFill>
          <a:ln w="12700">
            <a:solidFill>
              <a:srgbClr val="D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504748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D100FF"/>
                </a:solidFill>
                <a:latin typeface="Helvetica Neue"/>
              </a:rPr>
              <a:t>● Stripe Connect</a:t>
            </a:r>
          </a:p>
        </p:txBody>
      </p:sp>
      <p:sp>
        <p:nvSpPr>
          <p:cNvPr id="13" name="Oval 12"/>
          <p:cNvSpPr/>
          <p:nvPr/>
        </p:nvSpPr>
        <p:spPr>
          <a:xfrm>
            <a:off x="8573478" y="1036320"/>
            <a:ext cx="2695523" cy="509016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reenshot_20260521_093856_Google_Play_Store_17794416435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9678" y="960120"/>
            <a:ext cx="2543123" cy="493776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8611578" y="922020"/>
            <a:ext cx="2619323" cy="5013960"/>
          </a:xfrm>
          <a:prstGeom prst="ellipse">
            <a:avLst/>
          </a:prstGeom>
          <a:noFill/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2  · 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999AA"/>
                </a:solidFill>
                <a:latin typeface="Helvetica Neue"/>
              </a:rPr>
              <a:t>Every day, people need three things: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39FF14"/>
                </a:solidFill>
                <a:latin typeface="Helvetica Neue"/>
              </a:rPr>
              <a:t>Money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5146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D100FF"/>
                </a:solidFill>
                <a:latin typeface="Helvetica Neue"/>
              </a:rPr>
              <a:t>Help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5146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0E5FF"/>
                </a:solidFill>
                <a:latin typeface="Helvetica Neue"/>
              </a:rPr>
              <a:t>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7772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350" b="1">
                <a:solidFill>
                  <a:srgbClr val="FFFFFF"/>
                </a:solidFill>
                <a:latin typeface="Helvetica Neue"/>
              </a:rPr>
              <a:t>A person needing work </a:t>
            </a:r>
            <a:r>
              <a:rPr sz="1350">
                <a:solidFill>
                  <a:srgbClr val="9999AA"/>
                </a:solidFill>
                <a:latin typeface="Helvetica Neue"/>
              </a:rPr>
              <a:t>struggles to find opportunity.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04488"/>
            <a:ext cx="7772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350" b="1">
                <a:solidFill>
                  <a:srgbClr val="FFFFFF"/>
                </a:solidFill>
                <a:latin typeface="Helvetica Neue"/>
              </a:rPr>
              <a:t>A business needing help </a:t>
            </a:r>
            <a:r>
              <a:rPr sz="1350">
                <a:solidFill>
                  <a:srgbClr val="9999AA"/>
                </a:solidFill>
                <a:latin typeface="Helvetica Neue"/>
              </a:rPr>
              <a:t>struggles to find reliable assistance.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62856"/>
            <a:ext cx="7772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350" b="1">
                <a:solidFill>
                  <a:srgbClr val="FFFFFF"/>
                </a:solidFill>
                <a:latin typeface="Helvetica Neue"/>
              </a:rPr>
              <a:t>A buyer making a large purchase </a:t>
            </a:r>
            <a:r>
              <a:rPr sz="1350">
                <a:solidFill>
                  <a:srgbClr val="9999AA"/>
                </a:solidFill>
                <a:latin typeface="Helvetica Neue"/>
              </a:rPr>
              <a:t>struggles to verify what they are buying.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3212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Helvetica Neue"/>
              </a:rPr>
              <a:t>The need exists.  The visibility does not.</a:t>
            </a:r>
          </a:p>
        </p:txBody>
      </p:sp>
      <p:sp>
        <p:nvSpPr>
          <p:cNvPr id="13" name="Oval 12"/>
          <p:cNvSpPr/>
          <p:nvPr/>
        </p:nvSpPr>
        <p:spPr>
          <a:xfrm>
            <a:off x="8578796" y="1036320"/>
            <a:ext cx="2684886" cy="509016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reenshot_20260521_093844_Google_Play_Store_17794416435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4996" y="960120"/>
            <a:ext cx="2532486" cy="493776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8616896" y="922020"/>
            <a:ext cx="2608686" cy="5013960"/>
          </a:xfrm>
          <a:prstGeom prst="ellipse">
            <a:avLst/>
          </a:prstGeom>
          <a:noFill/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3  · 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Helvetica Neue"/>
              </a:rPr>
              <a:t>Real Problems. Real People.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93392"/>
            <a:ext cx="3657600" cy="356616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93392"/>
            <a:ext cx="3657600" cy="3810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84831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39FF14"/>
                </a:solidFill>
                <a:latin typeface="Helvetica Neue"/>
              </a:rPr>
              <a:t>Transmission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CCCCDD"/>
                </a:solidFill>
                <a:latin typeface="Helvetica Neue"/>
              </a:rPr>
              <a:t>A transmission fails on Wednesday.</a:t>
            </a:r>
          </a:p>
          <a:p>
            <a:r>
              <a:rPr sz="400">
                <a:latin typeface="Helvetica Neue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CCCCDD"/>
                </a:solidFill>
                <a:latin typeface="Helvetica Neue"/>
              </a:rPr>
              <a:t>Payday is Friday.</a:t>
            </a:r>
          </a:p>
          <a:p>
            <a:r>
              <a:rPr sz="400">
                <a:latin typeface="Helvetica Neue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CCCCDD"/>
                </a:solidFill>
                <a:latin typeface="Helvetica Neue"/>
              </a:rPr>
              <a:t>The person needs money today.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993392"/>
            <a:ext cx="3657600" cy="356616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993392"/>
            <a:ext cx="3657600" cy="38100"/>
          </a:xfrm>
          <a:prstGeom prst="rect">
            <a:avLst/>
          </a:prstGeom>
          <a:solidFill>
            <a:srgbClr val="D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2084831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D100FF"/>
                </a:solidFill>
                <a:latin typeface="Helvetica Neue"/>
              </a:rPr>
              <a:t>GT500 Purchase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260604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CCCCDD"/>
                </a:solidFill>
                <a:latin typeface="Helvetica Neue"/>
              </a:rPr>
              <a:t>A buyer is about to spend tens of thousands of dollars on a vehicle located hundreds of miles away.</a:t>
            </a:r>
          </a:p>
          <a:p>
            <a:r>
              <a:rPr sz="400">
                <a:latin typeface="Helvetica Neue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CCCCDD"/>
                </a:solidFill>
                <a:latin typeface="Helvetica Neue"/>
              </a:rPr>
              <a:t>They need proof before they buy.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4736" y="1993392"/>
            <a:ext cx="3657600" cy="356616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74736" y="1993392"/>
            <a:ext cx="3657600" cy="381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6" y="2084831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E5FF"/>
                </a:solidFill>
                <a:latin typeface="Helvetica Neue"/>
              </a:rPr>
              <a:t>Airbnb Property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2606040"/>
            <a:ext cx="3291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CCCCDD"/>
                </a:solidFill>
                <a:latin typeface="Helvetica Neue"/>
              </a:rPr>
              <a:t>A property owner lives in another state.</a:t>
            </a:r>
          </a:p>
          <a:p>
            <a:r>
              <a:rPr sz="400">
                <a:latin typeface="Helvetica Neue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CCCCDD"/>
                </a:solidFill>
                <a:latin typeface="Helvetica Neue"/>
              </a:rPr>
              <a:t>They need eyes on a property they cannot physically visit.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607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Different situations.  Same problem.  </a:t>
            </a:r>
            <a:r>
              <a:rPr sz="1400">
                <a:solidFill>
                  <a:srgbClr val="9999AA"/>
                </a:solidFill>
                <a:latin typeface="Helvetica Neue"/>
              </a:rPr>
              <a:t>People need opportunity, help, and verification.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4  ·  THE EMOTIONAL 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Helvetica Neue"/>
              </a:rPr>
              <a:t>Create Value In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93392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500">
                <a:solidFill>
                  <a:srgbClr val="CCCCDD"/>
                </a:solidFill>
                <a:latin typeface="Helvetica Neue"/>
              </a:rPr>
              <a:t>GUBER gives people a chance.  </a:t>
            </a:r>
            <a:r>
              <a:rPr sz="1500">
                <a:solidFill>
                  <a:srgbClr val="9999AA"/>
                </a:solidFill>
                <a:latin typeface="Helvetica Neue"/>
              </a:rPr>
              <a:t>Not a guarantee.  </a:t>
            </a:r>
            <a:r>
              <a:rPr sz="1500" b="1">
                <a:solidFill>
                  <a:srgbClr val="39FF14"/>
                </a:solidFill>
                <a:latin typeface="Helvetica Neue"/>
              </a:rPr>
              <a:t>A chance.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768600"/>
            <a:ext cx="384048" cy="384048"/>
          </a:xfrm>
          <a:prstGeom prst="ellipse">
            <a:avLst/>
          </a:prstGeom>
          <a:solidFill>
            <a:srgbClr val="181828"/>
          </a:solidFill>
          <a:ln w="127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40233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9FF14"/>
                </a:solidFill>
                <a:latin typeface="Helvetica Neu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4320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CCCCDD"/>
                </a:solidFill>
                <a:latin typeface="Helvetica Neue"/>
              </a:rPr>
              <a:t>Complete jobs.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35528"/>
            <a:ext cx="384048" cy="384048"/>
          </a:xfrm>
          <a:prstGeom prst="ellipse">
            <a:avLst/>
          </a:prstGeom>
          <a:solidFill>
            <a:srgbClr val="181828"/>
          </a:solidFill>
          <a:ln w="127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310128"/>
            <a:ext cx="40233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9FF14"/>
                </a:solidFill>
                <a:latin typeface="Helvetica Neue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CCCCDD"/>
                </a:solidFill>
                <a:latin typeface="Helvetica Neue"/>
              </a:rPr>
              <a:t>Help others.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902456"/>
            <a:ext cx="384048" cy="384048"/>
          </a:xfrm>
          <a:prstGeom prst="ellipse">
            <a:avLst/>
          </a:prstGeom>
          <a:solidFill>
            <a:srgbClr val="181828"/>
          </a:solidFill>
          <a:ln w="127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877056"/>
            <a:ext cx="40233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9FF14"/>
                </a:solidFill>
                <a:latin typeface="Helvetica Neu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77056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CCCCDD"/>
                </a:solidFill>
                <a:latin typeface="Helvetica Neue"/>
              </a:rPr>
              <a:t>Verify information.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469384"/>
            <a:ext cx="384048" cy="384048"/>
          </a:xfrm>
          <a:prstGeom prst="ellipse">
            <a:avLst/>
          </a:prstGeom>
          <a:solidFill>
            <a:srgbClr val="181828"/>
          </a:solidFill>
          <a:ln w="127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443984"/>
            <a:ext cx="40233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9FF14"/>
                </a:solidFill>
                <a:latin typeface="Helvetica Neue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44398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Helvetica Neue"/>
              </a:rPr>
              <a:t>Build credibility.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036312"/>
            <a:ext cx="384048" cy="384048"/>
          </a:xfrm>
          <a:prstGeom prst="ellipse">
            <a:avLst/>
          </a:prstGeom>
          <a:solidFill>
            <a:srgbClr val="181828"/>
          </a:solidFill>
          <a:ln w="127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010912"/>
            <a:ext cx="40233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9FF14"/>
                </a:solidFill>
                <a:latin typeface="Helvetica Neue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010912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Helvetica Neue"/>
              </a:rPr>
              <a:t>Earn trust.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6928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00E5FF"/>
                </a:solidFill>
                <a:latin typeface="Helvetica Neue"/>
              </a:rPr>
              <a:t>Your profile becomes a reflection of your actions.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1645920"/>
            <a:ext cx="4754880" cy="402336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1645920"/>
            <a:ext cx="38100" cy="402336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1828800"/>
            <a:ext cx="4343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160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</a:rPr>
              <a:t>GUBER does not judge people by assumptions.</a:t>
            </a:r>
          </a:p>
          <a:p>
            <a:r>
              <a:rPr sz="600">
                <a:latin typeface="Helvetica Neue"/>
              </a:rPr>
              <a:t> </a:t>
            </a:r>
          </a:p>
          <a:p>
            <a:pPr algn="l">
              <a:spcAft>
                <a:spcPts val="1600"/>
              </a:spcAft>
            </a:pPr>
            <a:r>
              <a:rPr sz="1800" b="1" i="0">
                <a:solidFill>
                  <a:srgbClr val="39FF14"/>
                </a:solidFill>
                <a:latin typeface="Helvetica Neue"/>
              </a:rPr>
              <a:t>GUBER documents what they do.</a:t>
            </a:r>
          </a:p>
          <a:p>
            <a:r>
              <a:rPr sz="600">
                <a:latin typeface="Helvetica Neue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999AA"/>
                </a:solidFill>
                <a:latin typeface="Helvetica Neue"/>
              </a:rPr>
              <a:t>Every job completed becomes evidence. Evidence becomes reputation. Reputation becomes opportunity.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5  ·  THE PLATFORM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Helvetica Neue"/>
              </a:rPr>
              <a:t>How GUBER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965960"/>
            <a:ext cx="2148840" cy="292608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965960"/>
            <a:ext cx="2148840" cy="3810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39FF14"/>
                </a:solidFill>
                <a:latin typeface="Helvetica Neu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</a:rPr>
              <a:t>Post a 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9999AA"/>
                </a:solidFill>
                <a:latin typeface="Helvetica Neue"/>
              </a:rPr>
              <a:t>Hirer picks a category, sets a budget, posts.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965960"/>
            <a:ext cx="2148840" cy="292608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0" y="1965960"/>
            <a:ext cx="2148840" cy="38100"/>
          </a:xfrm>
          <a:prstGeom prst="rect">
            <a:avLst/>
          </a:prstGeom>
          <a:solidFill>
            <a:srgbClr val="D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20574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D100FF"/>
                </a:solidFill>
                <a:latin typeface="Helvetica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67004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</a:rPr>
              <a:t>Accept a 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15468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9999AA"/>
                </a:solidFill>
                <a:latin typeface="Helvetica Neue"/>
              </a:rPr>
              <a:t>A verified local sees it and accepts.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1965960"/>
            <a:ext cx="2148840" cy="292608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74920" y="1965960"/>
            <a:ext cx="2148840" cy="381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20574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0E5FF"/>
                </a:solidFill>
                <a:latin typeface="Helvetica Neue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67004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</a:rPr>
              <a:t>Complete the 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15468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9999AA"/>
                </a:solidFill>
                <a:latin typeface="Helvetica Neue"/>
              </a:rPr>
              <a:t>Worker shows up, does the work.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1965960"/>
            <a:ext cx="2148840" cy="292608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1965960"/>
            <a:ext cx="214884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20574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59E0B"/>
                </a:solidFill>
                <a:latin typeface="Helvetica Neue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67004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</a:rPr>
              <a:t>Submit proof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315468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9999AA"/>
                </a:solidFill>
                <a:latin typeface="Helvetica Neue"/>
              </a:rPr>
              <a:t>GPS-stamped photos and checklist submitted.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1965960"/>
            <a:ext cx="2148840" cy="292608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38360" y="1965960"/>
            <a:ext cx="214884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0" y="20574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22C55E"/>
                </a:solidFill>
                <a:latin typeface="Helvetica Neue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67004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</a:rPr>
              <a:t>Build credibility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315468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9999AA"/>
                </a:solidFill>
                <a:latin typeface="Helvetica Neue"/>
              </a:rPr>
              <a:t>Both sides rated. Record stays forever.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108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444466"/>
                </a:solidFill>
                <a:latin typeface="Helvetica Neue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108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444466"/>
                </a:solidFill>
                <a:latin typeface="Helvetica Neue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108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444466"/>
                </a:solidFill>
                <a:latin typeface="Helvetica Neue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108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444466"/>
                </a:solidFill>
                <a:latin typeface="Helvetica Neue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257800"/>
            <a:ext cx="11384280" cy="19050"/>
          </a:xfrm>
          <a:prstGeom prst="rect">
            <a:avLst/>
          </a:prstGeom>
          <a:solidFill>
            <a:srgbClr val="28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94960"/>
            <a:ext cx="11384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39FF14"/>
                </a:solidFill>
                <a:latin typeface="Helvetica Neue"/>
              </a:rPr>
              <a:t>Simple.  Repeatable.  Scalable.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6  ·  TRACTION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Helvetica Neue"/>
              </a:rPr>
              <a:t>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CCCCDD"/>
                </a:solidFill>
                <a:latin typeface="Helvetica Neue"/>
              </a:rPr>
              <a:t>This is not a pitch for a future product. GUBER is live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87168"/>
            <a:ext cx="3246120" cy="118872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487168"/>
            <a:ext cx="38100" cy="118872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560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39FF14"/>
                </a:solidFill>
                <a:latin typeface="Helvetica Neue"/>
              </a:rPr>
              <a:t>100+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9900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Helvetica Neue"/>
              </a:rPr>
              <a:t>Downloads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29184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999AA"/>
                </a:solidFill>
                <a:latin typeface="Helvetica Neue"/>
              </a:rPr>
              <a:t>Google Play  ·  Zero paid acquisition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487168"/>
            <a:ext cx="3246120" cy="118872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31920" y="2487168"/>
            <a:ext cx="38100" cy="11887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96512" y="2560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00E5FF"/>
                </a:solidFill>
                <a:latin typeface="Helvetica Neue"/>
              </a:rPr>
              <a:t>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29900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Helvetica Neue"/>
              </a:rPr>
              <a:t>Web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6512" y="329184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999AA"/>
                </a:solidFill>
                <a:latin typeface="Helvetica Neue"/>
              </a:rPr>
              <a:t>guberapp.com  ·  Real users today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3246120" cy="118872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38100" cy="1188720"/>
          </a:xfrm>
          <a:prstGeom prst="rect">
            <a:avLst/>
          </a:prstGeom>
          <a:solidFill>
            <a:srgbClr val="D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136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D100FF"/>
                </a:solidFill>
                <a:latin typeface="Helvetica Neue"/>
              </a:rPr>
              <a:t>Active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343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Helvetica Neue"/>
              </a:rPr>
              <a:t>Stripe 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64515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999AA"/>
                </a:solidFill>
                <a:latin typeface="Helvetica Neue"/>
              </a:rPr>
              <a:t>Escrow + payout working end-to-end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3840480"/>
            <a:ext cx="3246120" cy="118872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31920" y="3840480"/>
            <a:ext cx="38100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96512" y="39136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59E0B"/>
                </a:solidFill>
                <a:latin typeface="Helvetica Neue"/>
              </a:rPr>
              <a:t>27+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6512" y="4343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Helvetica Neue"/>
              </a:rPr>
              <a:t>Cash Drops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96512" y="464515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999AA"/>
                </a:solidFill>
                <a:latin typeface="Helvetica Neue"/>
              </a:rPr>
              <a:t>Deployed in market  ·  Real cash paid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17830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000">
                <a:solidFill>
                  <a:srgbClr val="39FF14"/>
                </a:solidFill>
                <a:latin typeface="Helvetica Neue"/>
              </a:rPr>
              <a:t>▸  </a:t>
            </a:r>
            <a:r>
              <a:rPr sz="1050">
                <a:solidFill>
                  <a:srgbClr val="CCCCDD"/>
                </a:solidFill>
                <a:latin typeface="Helvetica Neue"/>
              </a:rPr>
              <a:t>Android live on Google Play since April 8,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235000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000">
                <a:solidFill>
                  <a:srgbClr val="39FF14"/>
                </a:solidFill>
                <a:latin typeface="Helvetica Neue"/>
              </a:rPr>
              <a:t>▸  </a:t>
            </a:r>
            <a:r>
              <a:rPr sz="1050">
                <a:solidFill>
                  <a:srgbClr val="CCCCDD"/>
                </a:solidFill>
                <a:latin typeface="Helvetica Neue"/>
              </a:rPr>
              <a:t>Web PWA live at guberapp.com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91693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000">
                <a:solidFill>
                  <a:srgbClr val="39FF14"/>
                </a:solidFill>
                <a:latin typeface="Helvetica Neue"/>
              </a:rPr>
              <a:t>▸  </a:t>
            </a:r>
            <a:r>
              <a:rPr sz="1050">
                <a:solidFill>
                  <a:srgbClr val="CCCCDD"/>
                </a:solidFill>
                <a:latin typeface="Helvetica Neue"/>
              </a:rPr>
              <a:t>Day-1 OG tier generating Stripe revenue today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83864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000">
                <a:solidFill>
                  <a:srgbClr val="39FF14"/>
                </a:solidFill>
                <a:latin typeface="Helvetica Neue"/>
              </a:rPr>
              <a:t>▸  </a:t>
            </a:r>
            <a:r>
              <a:rPr sz="1050">
                <a:solidFill>
                  <a:srgbClr val="CCCCDD"/>
                </a:solidFill>
                <a:latin typeface="Helvetica Neue"/>
              </a:rPr>
              <a:t>Stripe Connect, escrow + ledger tested end-to-end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40507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000">
                <a:solidFill>
                  <a:srgbClr val="39FF14"/>
                </a:solidFill>
                <a:latin typeface="Helvetica Neue"/>
              </a:rPr>
              <a:t>▸  </a:t>
            </a:r>
            <a:r>
              <a:rPr sz="1050">
                <a:solidFill>
                  <a:srgbClr val="CCCCDD"/>
                </a:solidFill>
                <a:latin typeface="Helvetica Neue"/>
              </a:rPr>
              <a:t>iOS App Store submission in progress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46177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000">
                <a:solidFill>
                  <a:srgbClr val="39FF14"/>
                </a:solidFill>
                <a:latin typeface="Helvetica Neue"/>
              </a:rPr>
              <a:t>▸  </a:t>
            </a:r>
            <a:r>
              <a:rPr sz="1050">
                <a:solidFill>
                  <a:srgbClr val="CCCCDD"/>
                </a:solidFill>
                <a:latin typeface="Helvetica Neue"/>
              </a:rPr>
              <a:t>Founder-built: design, engineering, payments, native mobile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518464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000">
                <a:solidFill>
                  <a:srgbClr val="39FF14"/>
                </a:solidFill>
                <a:latin typeface="Helvetica Neue"/>
              </a:rPr>
              <a:t>▸  </a:t>
            </a:r>
            <a:r>
              <a:rPr sz="1050">
                <a:solidFill>
                  <a:srgbClr val="CCCCDD"/>
                </a:solidFill>
                <a:latin typeface="Helvetica Neue"/>
              </a:rPr>
              <a:t>All revenue streams live or flag-gated — no future build required</a:t>
            </a:r>
          </a:p>
        </p:txBody>
      </p:sp>
      <p:sp>
        <p:nvSpPr>
          <p:cNvPr id="33" name="Oval 32"/>
          <p:cNvSpPr/>
          <p:nvPr/>
        </p:nvSpPr>
        <p:spPr>
          <a:xfrm>
            <a:off x="10225584" y="3596640"/>
            <a:ext cx="1585870" cy="33528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creenshot_20260521_093739_Google_Play_Store_17794416434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1784" y="3520440"/>
            <a:ext cx="1433470" cy="32004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10263684" y="3482340"/>
            <a:ext cx="1509670" cy="3276600"/>
          </a:xfrm>
          <a:prstGeom prst="ellipse">
            <a:avLst/>
          </a:prstGeom>
          <a:noFill/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7  ·  TRUST &amp; SAFETY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Helvetica Neue"/>
              </a:rPr>
              <a:t>Trust Is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500">
                <a:solidFill>
                  <a:srgbClr val="CCCCDD"/>
                </a:solidFill>
                <a:latin typeface="Helvetica Neue"/>
              </a:rPr>
              <a:t>Does GUBER let anyone do anything?  </a:t>
            </a:r>
            <a:r>
              <a:rPr sz="1500" b="1">
                <a:solidFill>
                  <a:srgbClr val="39FF14"/>
                </a:solidFill>
                <a:latin typeface="Helvetica Neue"/>
              </a:rPr>
              <a:t>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350">
                <a:solidFill>
                  <a:srgbClr val="9999AA"/>
                </a:solidFill>
                <a:latin typeface="Helvetica Neue"/>
              </a:rPr>
              <a:t>Anyone can start.  </a:t>
            </a:r>
            <a:r>
              <a:rPr sz="1350" b="1">
                <a:solidFill>
                  <a:srgbClr val="FFFFFF"/>
                </a:solidFill>
                <a:latin typeface="Helvetica Neue"/>
              </a:rPr>
              <a:t>Trust is earned.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62179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00" b="1">
                <a:solidFill>
                  <a:srgbClr val="39FF14"/>
                </a:solidFill>
                <a:latin typeface="Helvetica Neue"/>
              </a:rPr>
              <a:t>✓  </a:t>
            </a:r>
            <a:r>
              <a:rPr sz="1200" b="1">
                <a:solidFill>
                  <a:srgbClr val="FFFFFF"/>
                </a:solidFill>
                <a:latin typeface="Helvetica Neue"/>
              </a:rPr>
              <a:t>Completed jobs  </a:t>
            </a:r>
            <a:r>
              <a:rPr sz="1100">
                <a:solidFill>
                  <a:srgbClr val="9999AA"/>
                </a:solidFill>
                <a:latin typeface="Helvetica Neue"/>
              </a:rPr>
              <a:t>Every job on record.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48456"/>
            <a:ext cx="62179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00" b="1">
                <a:solidFill>
                  <a:srgbClr val="39FF14"/>
                </a:solidFill>
                <a:latin typeface="Helvetica Neue"/>
              </a:rPr>
              <a:t>✓  </a:t>
            </a:r>
            <a:r>
              <a:rPr sz="1200" b="1">
                <a:solidFill>
                  <a:srgbClr val="FFFFFF"/>
                </a:solidFill>
                <a:latin typeface="Helvetica Neue"/>
              </a:rPr>
              <a:t>Ratings from both sides  </a:t>
            </a:r>
            <a:r>
              <a:rPr sz="1100">
                <a:solidFill>
                  <a:srgbClr val="9999AA"/>
                </a:solidFill>
                <a:latin typeface="Helvetica Neue"/>
              </a:rPr>
              <a:t>Hirer and worker both rate.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33672"/>
            <a:ext cx="62179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00" b="1">
                <a:solidFill>
                  <a:srgbClr val="39FF14"/>
                </a:solidFill>
                <a:latin typeface="Helvetica Neue"/>
              </a:rPr>
              <a:t>✓  </a:t>
            </a:r>
            <a:r>
              <a:rPr sz="1200" b="1">
                <a:solidFill>
                  <a:srgbClr val="FFFFFF"/>
                </a:solidFill>
                <a:latin typeface="Helvetica Neue"/>
              </a:rPr>
              <a:t>GPS-verified proofs  </a:t>
            </a:r>
            <a:r>
              <a:rPr sz="1100">
                <a:solidFill>
                  <a:srgbClr val="9999AA"/>
                </a:solidFill>
                <a:latin typeface="Helvetica Neue"/>
              </a:rPr>
              <a:t>Proof submissions stamped to location +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18888"/>
            <a:ext cx="62179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00" b="1">
                <a:solidFill>
                  <a:srgbClr val="39FF14"/>
                </a:solidFill>
                <a:latin typeface="Helvetica Neue"/>
              </a:rPr>
              <a:t>✓  </a:t>
            </a:r>
            <a:r>
              <a:rPr sz="1200" b="1">
                <a:solidFill>
                  <a:srgbClr val="FFFFFF"/>
                </a:solidFill>
                <a:latin typeface="Helvetica Neue"/>
              </a:rPr>
              <a:t>ID + selfie verification  </a:t>
            </a:r>
            <a:r>
              <a:rPr sz="1100">
                <a:solidFill>
                  <a:srgbClr val="9999AA"/>
                </a:solidFill>
                <a:latin typeface="Helvetica Neue"/>
              </a:rPr>
              <a:t>Government ID required on both sides.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404104"/>
            <a:ext cx="62179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00" b="1">
                <a:solidFill>
                  <a:srgbClr val="39FF14"/>
                </a:solidFill>
                <a:latin typeface="Helvetica Neue"/>
              </a:rPr>
              <a:t>✓  </a:t>
            </a:r>
            <a:r>
              <a:rPr sz="1200" b="1">
                <a:solidFill>
                  <a:srgbClr val="FFFFFF"/>
                </a:solidFill>
                <a:latin typeface="Helvetica Neue"/>
              </a:rPr>
              <a:t>Consistency over time  </a:t>
            </a:r>
            <a:r>
              <a:rPr sz="1100">
                <a:solidFill>
                  <a:srgbClr val="9999AA"/>
                </a:solidFill>
                <a:latin typeface="Helvetica Neue"/>
              </a:rPr>
              <a:t>Trust compounds — can't be faked overnight.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715000"/>
            <a:ext cx="6217920" cy="621792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779008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0E5FF"/>
                </a:solidFill>
                <a:latin typeface="Helvetica Neue"/>
              </a:rPr>
              <a:t>GUBER documents trust.  It does not assume trust.</a:t>
            </a:r>
          </a:p>
        </p:txBody>
      </p:sp>
      <p:sp>
        <p:nvSpPr>
          <p:cNvPr id="14" name="Oval 13"/>
          <p:cNvSpPr/>
          <p:nvPr/>
        </p:nvSpPr>
        <p:spPr>
          <a:xfrm>
            <a:off x="8567379" y="1036320"/>
            <a:ext cx="2707720" cy="509016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reenshot_20260521_093921_Google_Play_Store_17794416435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3579" y="960120"/>
            <a:ext cx="2555320" cy="493776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5479" y="922020"/>
            <a:ext cx="2631520" cy="5013960"/>
          </a:xfrm>
          <a:prstGeom prst="ellipse">
            <a:avLst/>
          </a:prstGeom>
          <a:noFill/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8  ·  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Helvetica Neue"/>
              </a:rPr>
              <a:t>Revenue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38528"/>
            <a:ext cx="5532120" cy="123444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38528"/>
            <a:ext cx="5532120" cy="3810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99339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39FF14"/>
                </a:solidFill>
                <a:latin typeface="Helvetica Neue"/>
              </a:rPr>
              <a:t>Platform Fees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395728"/>
            <a:ext cx="5212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20% fee from helper share + 3.2% processing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38528"/>
            <a:ext cx="5532120" cy="123444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938528"/>
            <a:ext cx="5532120" cy="38100"/>
          </a:xfrm>
          <a:prstGeom prst="rect">
            <a:avLst/>
          </a:prstGeom>
          <a:solidFill>
            <a:srgbClr val="D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0" y="199339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D100FF"/>
                </a:solidFill>
                <a:latin typeface="Helvetica Neue"/>
              </a:rPr>
              <a:t>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D100FF"/>
                </a:solidFill>
                <a:latin typeface="Helvetica Neue"/>
              </a:rPr>
              <a:t>Verify &amp; 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395728"/>
            <a:ext cx="5212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Helpers earn $40–$120+. Platform takes 20%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28416"/>
            <a:ext cx="5532120" cy="123444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328416"/>
            <a:ext cx="5532120" cy="381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338328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00BFFF"/>
                </a:solidFill>
                <a:latin typeface="Helvetica Neue"/>
              </a:rPr>
              <a:t>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4015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BFFF"/>
                </a:solidFill>
                <a:latin typeface="Helvetica Neue"/>
              </a:rPr>
              <a:t>Business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785616"/>
            <a:ext cx="5212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$99/mo Scout Plan (20 unlocks). $49 biz verification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328416"/>
            <a:ext cx="5532120" cy="123444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328416"/>
            <a:ext cx="55321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338328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F59E0B"/>
                </a:solidFill>
                <a:latin typeface="Helvetica Neue"/>
              </a:rPr>
              <a:t>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4015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Helvetica Neue"/>
              </a:rPr>
              <a:t>Premium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3785616"/>
            <a:ext cx="5212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$4.99/mo Trust Box. Studio packs $5–$200. Tiers $11–$99/mo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18304"/>
            <a:ext cx="5532120" cy="123444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718304"/>
            <a:ext cx="553212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51960" y="477316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22C55E"/>
                </a:solidFill>
                <a:latin typeface="Helvetica Neue"/>
              </a:rPr>
              <a:t>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479145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2C55E"/>
                </a:solidFill>
                <a:latin typeface="Helvetica Neue"/>
              </a:rPr>
              <a:t>Sponsorships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5175504"/>
            <a:ext cx="5212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~60% margin on Cash Drop sponsor dollars. 27 drops live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718304"/>
            <a:ext cx="5532120" cy="123444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718304"/>
            <a:ext cx="553212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0" y="477316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A855F7"/>
                </a:solidFill>
                <a:latin typeface="Helvetica Neue"/>
              </a:rPr>
              <a:t>Flag-gated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8232" y="479145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A855F7"/>
                </a:solidFill>
                <a:latin typeface="Helvetica Neue"/>
              </a:rPr>
              <a:t>Future Expansion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5175504"/>
            <a:ext cx="5212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B2B API fees. Observation marketplace. Instant cashout fees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291072"/>
            <a:ext cx="11292840" cy="12700"/>
          </a:xfrm>
          <a:prstGeom prst="rect">
            <a:avLst/>
          </a:prstGeom>
          <a:solidFill>
            <a:srgbClr val="28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080760"/>
            <a:ext cx="11292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9FF14"/>
                </a:solidFill>
                <a:latin typeface="Helvetica Neue"/>
              </a:rPr>
              <a:t>Multiple revenue streams.  One ecosystem.  All live today.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9  ·  GROWTH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Helvetica Neue"/>
              </a:rPr>
              <a:t>Distribution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999AA"/>
                </a:solidFill>
                <a:latin typeface="Helvetica Neue"/>
              </a:rPr>
              <a:t>Growth comes from community activation — not paid advertising.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77440"/>
            <a:ext cx="5532120" cy="105156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38100" cy="105156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4505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39FF14"/>
                </a:solidFill>
                <a:latin typeface="Helvetica Neue"/>
              </a:rPr>
              <a:t>Local Launches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81635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City-by-city rollout builds density before expanding.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377440"/>
            <a:ext cx="5532120" cy="105156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377440"/>
            <a:ext cx="38100" cy="1051560"/>
          </a:xfrm>
          <a:prstGeom prst="rect">
            <a:avLst/>
          </a:prstGeom>
          <a:solidFill>
            <a:srgbClr val="D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4505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D100FF"/>
                </a:solidFill>
                <a:latin typeface="Helvetica Neue"/>
              </a:rPr>
              <a:t>Cash Drops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81635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Geo-targeted rewards drive real-world installs and word-of-mouth.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47872"/>
            <a:ext cx="5532120" cy="105156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47872"/>
            <a:ext cx="38100" cy="105156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2102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E5FF"/>
                </a:solidFill>
                <a:latin typeface="Helvetica Neue"/>
              </a:rPr>
              <a:t>Referral Loops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98678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Every completed job creates a story worth sharing.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547872"/>
            <a:ext cx="5532120" cy="105156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547872"/>
            <a:ext cx="38100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62102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Helvetica Neue"/>
              </a:rPr>
              <a:t>Verify &amp; Inspect Demand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398678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B2B pull from buyers, dealers, insurers, and lenders.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18304"/>
            <a:ext cx="5532120" cy="105156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718304"/>
            <a:ext cx="38100" cy="10515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47914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2C55E"/>
                </a:solidFill>
                <a:latin typeface="Helvetica Neue"/>
              </a:rPr>
              <a:t>Business Partnerships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15721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Local businesses unlock worker access through the Scout Plan.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718304"/>
            <a:ext cx="5532120" cy="105156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718304"/>
            <a:ext cx="38100" cy="10515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7914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A855F7"/>
                </a:solidFill>
                <a:latin typeface="Helvetica Neue"/>
              </a:rPr>
              <a:t>Social Media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515721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CCCCDD"/>
                </a:solidFill>
                <a:latin typeface="Helvetica Neue"/>
              </a:rPr>
              <a:t>Organic engagement across Facebook, TikTok, Instagram, LinkedIn, 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053328"/>
            <a:ext cx="11292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9FF14"/>
                </a:solidFill>
                <a:latin typeface="Helvetica Neue"/>
              </a:rPr>
              <a:t>Growth is driven by visibility, participation, and community activation.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10  ·  SCALE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Helvetica Neue"/>
              </a:rPr>
              <a:t>Expansion Playbook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93392"/>
            <a:ext cx="457200" cy="457200"/>
          </a:xfrm>
          <a:prstGeom prst="ellipse">
            <a:avLst/>
          </a:prstGeom>
          <a:solidFill>
            <a:srgbClr val="141424"/>
          </a:solidFill>
          <a:ln w="1905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67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9FF14"/>
                </a:solidFill>
                <a:latin typeface="Helvetica Neue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933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1">
                <a:solidFill>
                  <a:srgbClr val="FFFFFF"/>
                </a:solidFill>
                <a:latin typeface="Helvetica Neue"/>
              </a:rPr>
              <a:t>Start local.  </a:t>
            </a:r>
            <a:r>
              <a:rPr sz="1200">
                <a:solidFill>
                  <a:srgbClr val="9999AA"/>
                </a:solidFill>
                <a:latin typeface="Helvetica Neue"/>
              </a:rPr>
              <a:t>Launch in a single city.  Build density.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606040"/>
            <a:ext cx="25400" cy="237744"/>
          </a:xfrm>
          <a:prstGeom prst="rect">
            <a:avLst/>
          </a:prstGeom>
          <a:solidFill>
            <a:srgbClr val="28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34640"/>
            <a:ext cx="457200" cy="457200"/>
          </a:xfrm>
          <a:prstGeom prst="ellipse">
            <a:avLst/>
          </a:prstGeom>
          <a:solidFill>
            <a:srgbClr val="141424"/>
          </a:solidFill>
          <a:ln w="1905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09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9FF14"/>
                </a:solidFill>
                <a:latin typeface="Helvetica Neue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1">
                <a:solidFill>
                  <a:srgbClr val="FFFFFF"/>
                </a:solidFill>
                <a:latin typeface="Helvetica Neue"/>
              </a:rPr>
              <a:t>Prove repeatability.  </a:t>
            </a:r>
            <a:r>
              <a:rPr sz="1200">
                <a:solidFill>
                  <a:srgbClr val="9999AA"/>
                </a:solidFill>
                <a:latin typeface="Helvetica Neue"/>
              </a:rPr>
              <a:t>Document what works before scaling.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447288"/>
            <a:ext cx="25400" cy="237744"/>
          </a:xfrm>
          <a:prstGeom prst="rect">
            <a:avLst/>
          </a:prstGeom>
          <a:solidFill>
            <a:srgbClr val="28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3675888"/>
            <a:ext cx="457200" cy="457200"/>
          </a:xfrm>
          <a:prstGeom prst="ellipse">
            <a:avLst/>
          </a:prstGeom>
          <a:solidFill>
            <a:srgbClr val="141424"/>
          </a:solidFill>
          <a:ln w="1905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504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9FF14"/>
                </a:solidFill>
                <a:latin typeface="Helvetica Neue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6758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1">
                <a:solidFill>
                  <a:srgbClr val="FFFFFF"/>
                </a:solidFill>
                <a:latin typeface="Helvetica Neue"/>
              </a:rPr>
              <a:t>Expand city by city.  </a:t>
            </a:r>
            <a:r>
              <a:rPr sz="1200">
                <a:solidFill>
                  <a:srgbClr val="9999AA"/>
                </a:solidFill>
                <a:latin typeface="Helvetica Neue"/>
              </a:rPr>
              <a:t>Roll the playbook into new markets.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288536"/>
            <a:ext cx="25400" cy="237744"/>
          </a:xfrm>
          <a:prstGeom prst="rect">
            <a:avLst/>
          </a:prstGeom>
          <a:solidFill>
            <a:srgbClr val="28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457200" cy="457200"/>
          </a:xfrm>
          <a:prstGeom prst="ellipse">
            <a:avLst/>
          </a:prstGeom>
          <a:solidFill>
            <a:srgbClr val="141424"/>
          </a:solidFill>
          <a:ln w="1905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49173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9FF14"/>
                </a:solidFill>
                <a:latin typeface="Helvetica Neue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51713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1">
                <a:solidFill>
                  <a:srgbClr val="FFFFFF"/>
                </a:solidFill>
                <a:latin typeface="Helvetica Neue"/>
              </a:rPr>
              <a:t>Expand region by region.  </a:t>
            </a:r>
            <a:r>
              <a:rPr sz="1200">
                <a:solidFill>
                  <a:srgbClr val="9999AA"/>
                </a:solidFill>
                <a:latin typeface="Helvetica Neue"/>
              </a:rPr>
              <a:t>Stack density across connected markets.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129784"/>
            <a:ext cx="25400" cy="237744"/>
          </a:xfrm>
          <a:prstGeom prst="rect">
            <a:avLst/>
          </a:prstGeom>
          <a:solidFill>
            <a:srgbClr val="28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5358384"/>
            <a:ext cx="457200" cy="457200"/>
          </a:xfrm>
          <a:prstGeom prst="ellipse">
            <a:avLst/>
          </a:prstGeom>
          <a:solidFill>
            <a:srgbClr val="141424"/>
          </a:solidFill>
          <a:ln w="1905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33298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9FF14"/>
                </a:solidFill>
                <a:latin typeface="Helvetica Neue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35838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1">
                <a:solidFill>
                  <a:srgbClr val="FFFFFF"/>
                </a:solidFill>
                <a:latin typeface="Helvetica Neue"/>
              </a:rPr>
              <a:t>Expand nationally.  </a:t>
            </a:r>
            <a:r>
              <a:rPr sz="1200">
                <a:solidFill>
                  <a:srgbClr val="9999AA"/>
                </a:solidFill>
                <a:latin typeface="Helvetica Neue"/>
              </a:rPr>
              <a:t>The infrastructure is already built for 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9440" y="1828800"/>
            <a:ext cx="4663440" cy="384048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0" y="1828800"/>
            <a:ext cx="38100" cy="384048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1993392"/>
            <a:ext cx="4251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</a:rPr>
              <a:t>A disciplined, asset-light expansion strategy.</a:t>
            </a:r>
          </a:p>
          <a:p>
            <a:r>
              <a:rPr sz="600">
                <a:latin typeface="Helvetica Neue"/>
              </a:rPr>
              <a:t> 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CCCCDD"/>
                </a:solidFill>
                <a:latin typeface="Helvetica Neue"/>
              </a:rPr>
              <a:t>The same platform that powers one city powers all of them.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39FF14"/>
                </a:solidFill>
                <a:latin typeface="Helvetica Neue"/>
              </a:rPr>
              <a:t>No rebuild required.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CCCCDD"/>
                </a:solidFill>
                <a:latin typeface="Helvetica Neue"/>
              </a:rPr>
              <a:t>No new engineering team required.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Just execution.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80760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9999AA"/>
                </a:solidFill>
                <a:latin typeface="Helvetica Neue"/>
              </a:rPr>
              <a:t>Already deployed nationally capable infrastructure.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11  ·  WHY THIS SCALES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Helvetica Neue"/>
              </a:rPr>
              <a:t>The Network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999AA"/>
                </a:solidFill>
                <a:latin typeface="Helvetica Neue"/>
              </a:rPr>
              <a:t>Every completed task creates: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59152"/>
            <a:ext cx="1463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39FF14"/>
                </a:solidFill>
                <a:latin typeface="Helvetica Neue"/>
              </a:rPr>
              <a:t>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2359152"/>
            <a:ext cx="1463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D100FF"/>
                </a:solidFill>
                <a:latin typeface="Helvetica Neue"/>
              </a:rPr>
              <a:t>Reputation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2359152"/>
            <a:ext cx="1463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E5FF"/>
                </a:solidFill>
                <a:latin typeface="Helvetica Neue"/>
              </a:rPr>
              <a:t>Credibility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2359152"/>
            <a:ext cx="1463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59E0B"/>
                </a:solidFill>
                <a:latin typeface="Helvetica Neue"/>
              </a:rPr>
              <a:t>Accountability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90672"/>
            <a:ext cx="6400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CCCDD"/>
                </a:solidFill>
                <a:latin typeface="Helvetica Neue"/>
              </a:rPr>
              <a:t>The more activity that occurs, the more valuable the platform becomes.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6400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00" b="0" i="0">
                <a:solidFill>
                  <a:srgbClr val="9999AA"/>
                </a:solidFill>
                <a:latin typeface="Helvetica Neue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41648"/>
            <a:ext cx="6400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CCCDD"/>
                </a:solidFill>
                <a:latin typeface="Helvetica Neue"/>
              </a:rPr>
              <a:t>More workers build credibility.  More hirers trust the platform.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17136"/>
            <a:ext cx="6400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CCCDD"/>
                </a:solidFill>
                <a:latin typeface="Helvetica Neue"/>
              </a:rPr>
              <a:t>More businesses buy verification.  More sponsors fund Cash Drops.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92624"/>
            <a:ext cx="6400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CCCDD"/>
                </a:solidFill>
                <a:latin typeface="Helvetica Neue"/>
              </a:rPr>
              <a:t>More data strengthens trust scores.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86400"/>
            <a:ext cx="6400800" cy="19050"/>
          </a:xfrm>
          <a:prstGeom prst="rect">
            <a:avLst/>
          </a:prstGeom>
          <a:solidFill>
            <a:srgbClr val="28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623560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</a:rPr>
              <a:t>Trust is not purchased.  It is built through action.</a:t>
            </a:r>
          </a:p>
        </p:txBody>
      </p:sp>
      <p:sp>
        <p:nvSpPr>
          <p:cNvPr id="17" name="Oval 16"/>
          <p:cNvSpPr/>
          <p:nvPr/>
        </p:nvSpPr>
        <p:spPr>
          <a:xfrm>
            <a:off x="8563075" y="1036320"/>
            <a:ext cx="2716328" cy="509016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reenshot_20260521_093834_Google_Play_Store_17794416434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275" y="960120"/>
            <a:ext cx="2563928" cy="49377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601175" y="922020"/>
            <a:ext cx="2640128" cy="5013960"/>
          </a:xfrm>
          <a:prstGeom prst="ellipse">
            <a:avLst/>
          </a:prstGeom>
          <a:noFill/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12  ·  COMPETITIVE 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Helvetica Neue"/>
              </a:rPr>
              <a:t>Why GUBER Can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93392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50" b="1">
                <a:solidFill>
                  <a:srgbClr val="39FF14"/>
                </a:solidFill>
                <a:latin typeface="Helvetica Neue"/>
              </a:rPr>
              <a:t>✓  </a:t>
            </a:r>
            <a:r>
              <a:rPr sz="1250" b="1">
                <a:solidFill>
                  <a:srgbClr val="39FF14"/>
                </a:solidFill>
                <a:latin typeface="Helvetica Neue"/>
              </a:rPr>
              <a:t>Existing demand  —  </a:t>
            </a:r>
            <a:r>
              <a:rPr sz="1200">
                <a:solidFill>
                  <a:srgbClr val="9999AA"/>
                </a:solidFill>
                <a:latin typeface="Helvetica Neue"/>
              </a:rPr>
              <a:t>People already need work, help, and proof — no behavior change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6896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50" b="1">
                <a:solidFill>
                  <a:srgbClr val="D100FF"/>
                </a:solidFill>
                <a:latin typeface="Helvetica Neue"/>
              </a:rPr>
              <a:t>✓  </a:t>
            </a:r>
            <a:r>
              <a:rPr sz="1250" b="1">
                <a:solidFill>
                  <a:srgbClr val="D100FF"/>
                </a:solidFill>
                <a:latin typeface="Helvetica Neue"/>
              </a:rPr>
              <a:t>Multiple live revenue streams  —  </a:t>
            </a:r>
            <a:r>
              <a:rPr sz="1200">
                <a:solidFill>
                  <a:srgbClr val="9999AA"/>
                </a:solidFill>
                <a:latin typeface="Helvetica Neue"/>
              </a:rPr>
              <a:t>Six streams live or flag-gated. None require future engineering.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50" b="1">
                <a:solidFill>
                  <a:srgbClr val="00E5FF"/>
                </a:solidFill>
                <a:latin typeface="Helvetica Neue"/>
              </a:rPr>
              <a:t>✓  </a:t>
            </a:r>
            <a:r>
              <a:rPr sz="1250" b="1">
                <a:solidFill>
                  <a:srgbClr val="00E5FF"/>
                </a:solidFill>
                <a:latin typeface="Helvetica Neue"/>
              </a:rPr>
              <a:t>Asset-light software model  —  </a:t>
            </a:r>
            <a:r>
              <a:rPr sz="1200">
                <a:solidFill>
                  <a:srgbClr val="9999AA"/>
                </a:solidFill>
                <a:latin typeface="Helvetica Neue"/>
              </a:rPr>
              <a:t>Infrastructure cost near zero at idle. Margin scales with volume.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03904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50" b="1">
                <a:solidFill>
                  <a:srgbClr val="F59E0B"/>
                </a:solidFill>
                <a:latin typeface="Helvetica Neue"/>
              </a:rPr>
              <a:t>✓  </a:t>
            </a:r>
            <a:r>
              <a:rPr sz="1250" b="1">
                <a:solidFill>
                  <a:srgbClr val="F59E0B"/>
                </a:solidFill>
                <a:latin typeface="Helvetica Neue"/>
              </a:rPr>
              <a:t>Local-first expansion  —  </a:t>
            </a:r>
            <a:r>
              <a:rPr sz="1200">
                <a:solidFill>
                  <a:srgbClr val="9999AA"/>
                </a:solidFill>
                <a:latin typeface="Helvetica Neue"/>
              </a:rPr>
              <a:t>Density before breadth. Every city is a blueprint for the next.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07408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50" b="1">
                <a:solidFill>
                  <a:srgbClr val="22C55E"/>
                </a:solidFill>
                <a:latin typeface="Helvetica Neue"/>
              </a:rPr>
              <a:t>✓  </a:t>
            </a:r>
            <a:r>
              <a:rPr sz="1250" b="1">
                <a:solidFill>
                  <a:srgbClr val="22C55E"/>
                </a:solidFill>
                <a:latin typeface="Helvetica Neue"/>
              </a:rPr>
              <a:t>Compounding moat  —  </a:t>
            </a:r>
            <a:r>
              <a:rPr sz="1200">
                <a:solidFill>
                  <a:srgbClr val="9999AA"/>
                </a:solidFill>
                <a:latin typeface="Helvetica Neue"/>
              </a:rPr>
              <a:t>Marketplace + verification advantages multiply with every new user.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010912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50" b="1">
                <a:solidFill>
                  <a:srgbClr val="A855F7"/>
                </a:solidFill>
                <a:latin typeface="Helvetica Neue"/>
              </a:rPr>
              <a:t>✓  </a:t>
            </a:r>
            <a:r>
              <a:rPr sz="1250" b="1">
                <a:solidFill>
                  <a:srgbClr val="A855F7"/>
                </a:solidFill>
                <a:latin typeface="Helvetica Neue"/>
              </a:rPr>
              <a:t>Trust grows with usage  —  </a:t>
            </a:r>
            <a:r>
              <a:rPr sz="1200">
                <a:solidFill>
                  <a:srgbClr val="9999AA"/>
                </a:solidFill>
                <a:latin typeface="Helvetica Neue"/>
              </a:rPr>
              <a:t>Data layer becomes more valuable — and harder to replicate — over 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14416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250" b="1">
                <a:solidFill>
                  <a:srgbClr val="FFFFFF"/>
                </a:solidFill>
                <a:latin typeface="Helvetica Neue"/>
              </a:rPr>
              <a:t>✓  </a:t>
            </a:r>
            <a:r>
              <a:rPr sz="1250" b="1">
                <a:solidFill>
                  <a:srgbClr val="FFFFFF"/>
                </a:solidFill>
                <a:latin typeface="Helvetica Neue"/>
              </a:rPr>
              <a:t>Human behavior is unchanged  —  </a:t>
            </a:r>
            <a:r>
              <a:rPr sz="1200">
                <a:solidFill>
                  <a:srgbClr val="9999AA"/>
                </a:solidFill>
                <a:latin typeface="Helvetica Neue"/>
              </a:rPr>
              <a:t>People have always transacted locally. GUBER just makes it safer.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236208"/>
            <a:ext cx="11064240" cy="19050"/>
          </a:xfrm>
          <a:prstGeom prst="rect">
            <a:avLst/>
          </a:prstGeom>
          <a:solidFill>
            <a:srgbClr val="28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29107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9FF14"/>
                </a:solidFill>
                <a:latin typeface="Helvetica Neue"/>
              </a:rPr>
              <a:t>People already need work, help, and proof.  GUBER simply makes it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13  ·  THE LONG GAME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Helvetica Neue"/>
              </a:rPr>
              <a:t>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29968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CCCCDD"/>
                </a:solidFill>
                <a:latin typeface="Helvetica Neue"/>
              </a:rPr>
              <a:t>The long-term vision is simple: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78608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</a:rPr>
              <a:t>Create a platform where opportunity, work, verification, and trust become visible in real time — in every community across the country.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434840"/>
            <a:ext cx="3566160" cy="100584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49884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300">
                <a:solidFill>
                  <a:srgbClr val="39FF14"/>
                </a:solidFill>
                <a:latin typeface="Helvetica Neue"/>
              </a:rPr>
              <a:t>◉  </a:t>
            </a:r>
            <a:r>
              <a:rPr sz="1300" b="1">
                <a:solidFill>
                  <a:srgbClr val="FFFFFF"/>
                </a:solidFill>
                <a:latin typeface="Helvetica Neue"/>
              </a:rPr>
              <a:t>Every city.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9999AA"/>
                </a:solidFill>
                <a:latin typeface="Helvetica Neue"/>
              </a:rPr>
              <a:t>Not just tech hubs. Real communities.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4434840"/>
            <a:ext cx="3566160" cy="100584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49884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300">
                <a:solidFill>
                  <a:srgbClr val="39FF14"/>
                </a:solidFill>
                <a:latin typeface="Helvetica Neue"/>
              </a:rPr>
              <a:t>◈  </a:t>
            </a:r>
            <a:r>
              <a:rPr sz="1300" b="1">
                <a:solidFill>
                  <a:srgbClr val="FFFFFF"/>
                </a:solidFill>
                <a:latin typeface="Helvetica Neue"/>
              </a:rPr>
              <a:t>Every person.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892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9999AA"/>
                </a:solidFill>
                <a:latin typeface="Helvetica Neue"/>
              </a:rPr>
              <a:t>Not just professionals. Anyone willing to show up.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4434840"/>
            <a:ext cx="3566160" cy="100584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49884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300">
                <a:solidFill>
                  <a:srgbClr val="39FF14"/>
                </a:solidFill>
                <a:latin typeface="Helvetica Neue"/>
              </a:rPr>
              <a:t>◆  </a:t>
            </a:r>
            <a:r>
              <a:rPr sz="1300" b="1">
                <a:solidFill>
                  <a:srgbClr val="FFFFFF"/>
                </a:solidFill>
                <a:latin typeface="Helvetica Neue"/>
              </a:rPr>
              <a:t>Real proof.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92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9999AA"/>
                </a:solidFill>
                <a:latin typeface="Helvetica Neue"/>
              </a:rPr>
              <a:t>Not just claims. Evidence that builds over time.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650992"/>
            <a:ext cx="11064240" cy="19050"/>
          </a:xfrm>
          <a:prstGeom prst="rect">
            <a:avLst/>
          </a:prstGeom>
          <a:solidFill>
            <a:srgbClr val="28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742432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39FF14"/>
                </a:solidFill>
                <a:latin typeface="Helvetica Neue"/>
              </a:rPr>
              <a:t>Helping people create value in themselves.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14  ·  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Helvetica Neue"/>
              </a:rPr>
              <a:t>Investment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39FF14"/>
                </a:solidFill>
                <a:latin typeface="Helvetica Neue"/>
              </a:rPr>
              <a:t>$1,000,000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786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999AA"/>
                </a:solidFill>
                <a:latin typeface="Helvetica Neue"/>
              </a:rPr>
              <a:t>Target raise over 18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</a:rPr>
              <a:t>$15M early-stage valuation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84448"/>
            <a:ext cx="6035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CCCDD"/>
                </a:solidFill>
                <a:latin typeface="Helvetica Neue"/>
              </a:rPr>
              <a:t>Capital goes to growth — not engineering. The product is already built.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1596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9999AA"/>
                </a:solidFill>
                <a:latin typeface="Helvetica Neue"/>
              </a:rPr>
              <a:t>USE OF FUNDS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808728"/>
            <a:ext cx="768096" cy="10160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468172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9FF14"/>
                </a:solidFill>
                <a:latin typeface="Helvetica Neue"/>
              </a:rPr>
              <a:t>30%  $300K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81728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CCCCDD"/>
                </a:solidFill>
                <a:latin typeface="Helvetica Neue"/>
              </a:rPr>
              <a:t>Product Development &amp; Engineering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64760"/>
            <a:ext cx="640080" cy="101600"/>
          </a:xfrm>
          <a:prstGeom prst="rect">
            <a:avLst/>
          </a:prstGeom>
          <a:solidFill>
            <a:srgbClr val="D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493776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D100FF"/>
                </a:solidFill>
                <a:latin typeface="Helvetica Neue"/>
              </a:rPr>
              <a:t>25%  $250K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CCCCDD"/>
                </a:solidFill>
                <a:latin typeface="Helvetica Neue"/>
              </a:rPr>
              <a:t>Marketing, Growth &amp; Community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20792"/>
            <a:ext cx="384048" cy="10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519379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59E0B"/>
                </a:solidFill>
                <a:latin typeface="Helvetica Neue"/>
              </a:rPr>
              <a:t>15%  $150K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93792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CCCCDD"/>
                </a:solidFill>
                <a:latin typeface="Helvetica Neue"/>
              </a:rPr>
              <a:t>Operations, Compliance &amp; Trust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576824"/>
            <a:ext cx="256031" cy="1016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544982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C55E"/>
                </a:solidFill>
                <a:latin typeface="Helvetica Neue"/>
              </a:rPr>
              <a:t>10%  $100K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4982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CCCCDD"/>
                </a:solidFill>
                <a:latin typeface="Helvetica Neue"/>
              </a:rPr>
              <a:t>Business Development &amp; Partnerships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832856"/>
            <a:ext cx="256031" cy="1016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6120" y="57058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855F7"/>
                </a:solidFill>
                <a:latin typeface="Helvetica Neue"/>
              </a:rPr>
              <a:t>10%  $100K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05856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CCCCDD"/>
                </a:solidFill>
                <a:latin typeface="Helvetica Neue"/>
              </a:rPr>
              <a:t>Customer Support &amp; Quality Control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088888"/>
            <a:ext cx="128015" cy="1016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6120" y="596188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E5FF"/>
                </a:solidFill>
                <a:latin typeface="Helvetica Neue"/>
              </a:rPr>
              <a:t>5%  $50K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961888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CCCCDD"/>
                </a:solidFill>
                <a:latin typeface="Helvetica Neue"/>
              </a:rPr>
              <a:t>Infrastructure &amp; Platform Scaling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44920"/>
            <a:ext cx="128015" cy="101600"/>
          </a:xfrm>
          <a:prstGeom prst="rect">
            <a:avLst/>
          </a:prstGeom>
          <a:solidFill>
            <a:srgbClr val="99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46120" y="62179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999AA"/>
                </a:solidFill>
                <a:latin typeface="Helvetica Neue"/>
              </a:rPr>
              <a:t>5%  $50K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217920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CCCCDD"/>
                </a:solidFill>
                <a:latin typeface="Helvetica Neue"/>
              </a:rPr>
              <a:t>Working Capital &amp; Contingency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0" y="1371600"/>
            <a:ext cx="4663440" cy="3108960"/>
          </a:xfrm>
          <a:prstGeom prst="rect">
            <a:avLst/>
          </a:prstGeom>
          <a:solidFill>
            <a:srgbClr val="10101C"/>
          </a:solidFill>
          <a:ln w="9525">
            <a:solidFill>
              <a:srgbClr val="282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49440" y="1371600"/>
            <a:ext cx="38100" cy="310896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0608" y="1481328"/>
            <a:ext cx="431596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The corporate stack is already in place.</a:t>
            </a:r>
          </a:p>
          <a:p>
            <a:r>
              <a:rPr sz="600">
                <a:latin typeface="Helvetica Neue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9FF14"/>
                </a:solidFill>
                <a:latin typeface="Helvetica Neue"/>
              </a:rPr>
              <a:t>· Delaware LLC  </a:t>
            </a:r>
            <a:r>
              <a:rPr sz="1100">
                <a:solidFill>
                  <a:srgbClr val="CCCCDD"/>
                </a:solidFill>
                <a:latin typeface="Helvetica Neue"/>
              </a:rPr>
              <a:t>GUBER Global LLC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9FF14"/>
                </a:solidFill>
                <a:latin typeface="Helvetica Neue"/>
              </a:rPr>
              <a:t>· Trademark  </a:t>
            </a:r>
            <a:r>
              <a:rPr sz="1100">
                <a:solidFill>
                  <a:srgbClr val="CCCCDD"/>
                </a:solidFill>
                <a:latin typeface="Helvetica Neue"/>
              </a:rPr>
              <a:t>U.S. application filed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9FF14"/>
                </a:solidFill>
                <a:latin typeface="Helvetica Neue"/>
              </a:rPr>
              <a:t>· DUNS Number  </a:t>
            </a:r>
            <a:r>
              <a:rPr sz="1100">
                <a:solidFill>
                  <a:srgbClr val="CCCCDD"/>
                </a:solidFill>
                <a:latin typeface="Helvetica Neue"/>
              </a:rPr>
              <a:t>Issued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39FF14"/>
                </a:solidFill>
                <a:latin typeface="Helvetica Neue"/>
              </a:rPr>
              <a:t>· 100% Founder-Owned  </a:t>
            </a:r>
            <a:r>
              <a:rPr sz="1100">
                <a:solidFill>
                  <a:srgbClr val="CCCCDD"/>
                </a:solidFill>
                <a:latin typeface="Helvetica Neue"/>
              </a:rPr>
              <a:t>No prior dilution</a:t>
            </a:r>
          </a:p>
        </p:txBody>
      </p:sp>
      <p:sp>
        <p:nvSpPr>
          <p:cNvPr id="34" name="Oval 33"/>
          <p:cNvSpPr/>
          <p:nvPr/>
        </p:nvSpPr>
        <p:spPr>
          <a:xfrm>
            <a:off x="8955353" y="3093720"/>
            <a:ext cx="1931772" cy="362712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creenshot_20260522_030755_Samsung_Browser_17794415926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1553" y="3017520"/>
            <a:ext cx="1779372" cy="347472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8993453" y="2979420"/>
            <a:ext cx="1855572" cy="3550920"/>
          </a:xfrm>
          <a:prstGeom prst="ellipse">
            <a:avLst/>
          </a:prstGeom>
          <a:noFill/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55566"/>
                </a:solidFill>
                <a:latin typeface="Helvetica Neue"/>
              </a:rPr>
              <a:t>Confidential · GUBER Global LLC · guberapp.com · Guberapp.global@gmail.com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365760" y="1097280"/>
            <a:ext cx="12801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20000" b="1" i="0">
                <a:solidFill>
                  <a:srgbClr val="12121E"/>
                </a:solidFill>
                <a:latin typeface="Helvetica Neue"/>
              </a:rPr>
              <a:t>GUBER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9FF14"/>
                </a:solidFill>
                <a:latin typeface="Helvetica Neue"/>
              </a:rPr>
              <a:t>SLIDE 15  ·  CONTACT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645920" cy="31750"/>
          </a:xfrm>
          <a:prstGeom prst="rect">
            <a:avLst/>
          </a:prstGeom>
          <a:solidFill>
            <a:srgbClr val="39F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789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Helvetica Neue"/>
              </a:rPr>
              <a:t>Less talk. Straight 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84831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CCCCDD"/>
                </a:solidFill>
                <a:latin typeface="Helvetica Neue"/>
              </a:rPr>
              <a:t>Every serious inbound gets a serious reply — same hour, same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443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999AA"/>
                </a:solidFill>
                <a:latin typeface="Helvetica Neue"/>
              </a:rPr>
              <a:t>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944368"/>
            <a:ext cx="7315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GUBER Global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11296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999AA"/>
                </a:solidFill>
                <a:latin typeface="Helvetica Neue"/>
              </a:rPr>
              <a:t>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511296"/>
            <a:ext cx="7315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39FF14"/>
                </a:solidFill>
                <a:latin typeface="Helvetica Neue"/>
              </a:rPr>
              <a:t>Guberapp.global@gmail.com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78224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999AA"/>
                </a:solidFill>
                <a:latin typeface="Helvetica Neue"/>
              </a:rPr>
              <a:t>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078224"/>
            <a:ext cx="7315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0E5FF"/>
                </a:solidFill>
                <a:latin typeface="Helvetica Neue"/>
              </a:rPr>
              <a:t>(251) 284-9412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45152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999AA"/>
                </a:solidFill>
                <a:latin typeface="Helvetica Neue"/>
              </a:rPr>
              <a:t>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645152"/>
            <a:ext cx="7315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D100FF"/>
                </a:solidFill>
                <a:latin typeface="Helvetica Neue"/>
              </a:rPr>
              <a:t>guberapp.com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999AA"/>
                </a:solidFill>
                <a:latin typeface="Helvetica Neue"/>
              </a:rPr>
              <a:t>Google Play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5212080"/>
            <a:ext cx="7315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999AA"/>
                </a:solidFill>
                <a:latin typeface="Helvetica Neue"/>
              </a:rPr>
              <a:t>GUBER — Guber Global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79008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9999AA"/>
                </a:solidFill>
                <a:latin typeface="Helvetica Neue"/>
              </a:rPr>
              <a:t>LinkedIn  ·  linkedin.com/company/guber-global    ·    Facebook  ·  facebook.com/guberapp    ·    TikTok  ·  @guberapp    ·    X  ·  @guberapp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236208"/>
            <a:ext cx="11064240" cy="19050"/>
          </a:xfrm>
          <a:prstGeom prst="rect">
            <a:avLst/>
          </a:prstGeom>
          <a:solidFill>
            <a:srgbClr val="28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Confidential — for invited investors only. Do not redistribute.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444455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